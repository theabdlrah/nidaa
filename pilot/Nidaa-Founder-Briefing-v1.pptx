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9A9A"/>
                </a:solidFill>
                <a:latin typeface="Calibri"/>
              </a:rPr>
              <a:t>نداء  ·  NIDAA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Offline-first, Arabic-RTL community needs &amp; services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F2E9D8"/>
                </a:solidFill>
                <a:latin typeface="Calibri"/>
              </a:rPr>
              <a:t>A humanitarian aid-coordination board built for how Syria &amp; Gaza actually are in 2025–26: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1">
                <a:solidFill>
                  <a:srgbClr val="F2E9D8"/>
                </a:solidFill>
                <a:latin typeface="Calibri"/>
              </a:rPr>
              <a:t>~64% offline · intermittent &amp; expensive connectivity · damaged infrastructure · information dies exactly when it is needed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Founder Briefing v1  ·  Abdul Rahman  · 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Status: prototype built &amp; verified · evidence campaign in progress · not yet a deployed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 · What is Nidaa?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Offline-first by design.</a:t>
            </a:r>
            <a:r>
              <a:rPr sz="1500">
                <a:solidFill>
                  <a:srgbClr val="222A33"/>
                </a:solidFill>
                <a:latin typeface="Calibri"/>
              </a:rPr>
              <a:t>  The device is the source of truth — new posts save locally (IndexedDB) and sync only when a connection appears.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Works with zero connectivity.</a:t>
            </a:r>
            <a:r>
              <a:rPr sz="1500">
                <a:solidFill>
                  <a:srgbClr val="222A33"/>
                </a:solidFill>
                <a:latin typeface="Calibri"/>
              </a:rPr>
              <a:t>  Service-worker app shell means the board still loads and functions after the first visit.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Arabic-default, full RTL.</a:t>
            </a:r>
            <a:r>
              <a:rPr sz="1500">
                <a:solidFill>
                  <a:srgbClr val="222A33"/>
                </a:solidFill>
                <a:latin typeface="Calibri"/>
              </a:rPr>
              <a:t>  With an English toggle — built for the people on the ground, not for HQ.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Structured, verifiable entries.</a:t>
            </a:r>
            <a:r>
              <a:rPr sz="1500">
                <a:solidFill>
                  <a:srgbClr val="222A33"/>
                </a:solidFill>
                <a:latin typeface="Calibri"/>
              </a:rPr>
              <a:t>  Needs &amp; offers (medical, food, water, shelter, transport…) by city; NGOs mark entries verified.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Gaza-first, Syria-second.</a:t>
            </a:r>
            <a:r>
              <a:rPr sz="1500">
                <a:solidFill>
                  <a:srgbClr val="222A33"/>
                </a:solidFill>
                <a:latin typeface="Calibri"/>
              </a:rPr>
              <a:t>  One codebase, region-tagged (gza | syr). Gaza is the primary deployment target.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71600"/>
            <a:ext cx="4434840" cy="443484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81328"/>
            <a:ext cx="4023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C2B39"/>
                </a:solidFill>
                <a:latin typeface="Calibri"/>
              </a:rPr>
              <a:t>What it actually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74519"/>
            <a:ext cx="4069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Browse community needs &amp; offers by city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Post a new entry even when offline (queues, pushes on reconnect)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NGOs / admins mark entries verified (auth-gated in prod)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Live online/offline + pending-sync indicators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Pluggable real seed data (HDX health/education facilities)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 · Why does this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Connectivity is the failure mode.</a:t>
            </a:r>
            <a:r>
              <a:rPr sz="1500">
                <a:solidFill>
                  <a:srgbClr val="222A33"/>
                </a:solidFill>
                <a:latin typeface="Calibri"/>
              </a:rPr>
              <a:t>  In Syria ~64% are offline and internet is slow/intermittent/expensive; in Gaza, internet AND electricity scarcity are the binding constraints.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Incumbent tools fail exactly when needed.</a:t>
            </a:r>
            <a:r>
              <a:rPr sz="1500">
                <a:solidFill>
                  <a:srgbClr val="222A33"/>
                </a:solidFill>
                <a:latin typeface="Calibri"/>
              </a:rPr>
              <a:t>  WhatsApp / Telegram / Facebook work only with a connection — they break during the outages when aid info matters most.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▪ </a:t>
            </a:r>
            <a:r>
              <a:rPr sz="1500" b="1">
                <a:solidFill>
                  <a:srgbClr val="222A33"/>
                </a:solidFill>
                <a:latin typeface="Calibri"/>
              </a:rPr>
              <a:t>Information fragmentation has real cost.</a:t>
            </a:r>
            <a:r>
              <a:rPr sz="1500">
                <a:solidFill>
                  <a:srgbClr val="222A33"/>
                </a:solidFill>
                <a:latin typeface="Calibri"/>
              </a:rPr>
              <a:t>  A resident interview (Adam, 2026-07-14): a connectivity outage cut his family's access to food-distribution information and to digital payments.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77639"/>
            <a:ext cx="3566160" cy="329184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≈ 64%  offline (Syria)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977639"/>
            <a:ext cx="3566160" cy="329184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~36%  internet penetration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977639"/>
            <a:ext cx="3566160" cy="329184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 tools fit offline+Gaza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11155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1C2B39"/>
                </a:solidFill>
                <a:latin typeface="Calibri"/>
              </a:rPr>
              <a:t>The design principle that follows: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222A33"/>
                </a:solidFill>
                <a:latin typeface="Calibri"/>
              </a:rPr>
              <a:t>“the network will fail, and the tool must be correct anyway.”  Every layer (storage, UI, verification, sync) preserves offline-first behavior — Nidaa degrades gracefully instead of going dark.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HOW WE GOT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 · Project evolution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234440" cy="7132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1234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Jul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325880"/>
            <a:ext cx="9875520" cy="71323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38074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2B39"/>
                </a:solidFill>
                <a:latin typeface="Calibri"/>
              </a:rPr>
              <a:t>Resident interview (Adam)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691640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A2/A3/A5 strengthened: info + offline matter; incumbents fail on outages.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67128"/>
            <a:ext cx="1234440" cy="7132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1234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Jul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2167128"/>
            <a:ext cx="9875520" cy="71323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221992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2B39"/>
                </a:solidFill>
                <a:latin typeface="Calibri"/>
              </a:rPr>
              <a:t>Red-team + pivot to coordinator-led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532888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Hypothesis shifts: primary user = coordinator / info officer, not lone beneficiary.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1234440" cy="713232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27248"/>
            <a:ext cx="1234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Jul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008376"/>
            <a:ext cx="9875520" cy="71323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063240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2B39"/>
                </a:solidFill>
                <a:latin typeface="Calibri"/>
              </a:rPr>
              <a:t>A6 splits into A6a / A6b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74136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Formal orgs structure info (early support); grassroots coordinators = the open, existential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9624"/>
            <a:ext cx="1234440" cy="713232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68496"/>
            <a:ext cx="1234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Jul 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3849624"/>
            <a:ext cx="9875520" cy="71323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3904488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2B39"/>
                </a:solidFill>
                <a:latin typeface="Calibri"/>
              </a:rPr>
              <a:t>Public-evidence matrix (Tier-1)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21538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9 sources retrieved + URL-verified; convergence becomes the strongest signal.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90872"/>
            <a:ext cx="1234440" cy="7132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809744"/>
            <a:ext cx="1234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Jul 15–16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4690872"/>
            <a:ext cx="9875520" cy="71323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4745736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2B39"/>
                </a:solidFill>
                <a:latin typeface="Calibri"/>
              </a:rPr>
              <a:t>Outreach wave 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56632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17 targets contacted / engaged incl. Abdelrahman (Wa7at), OCHA, WCK, YAP, Mones (MSF).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32120"/>
            <a:ext cx="1234440" cy="713232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650992"/>
            <a:ext cx="1234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Jul 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5532120"/>
            <a:ext cx="9875520" cy="71323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558698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2B39"/>
                </a:solidFill>
                <a:latin typeface="Calibri"/>
              </a:rPr>
              <a:t>A6b Resolution Campaign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897880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RESOLVED-AS-CONDITIONAL: structure survives only with owner/mandate + near-zero burden.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THE THESIS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 · Current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137160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106984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Nidaa may be a coordinator-led information-management &amp; coordination tool, not a civilian-first platform.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F2E9D8"/>
                </a:solidFill>
                <a:latin typeface="Calibri"/>
              </a:rPr>
              <a:t>The user is the coordinator / info officer who already “keeps information” — Nidaa makes that job near-zero-burden and embeds inside their existing channel.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2B39"/>
                </a:solidFill>
                <a:latin typeface="Calibri"/>
              </a:rPr>
              <a:t>Why this hypothesis (and why it is still falsifiable):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Tool research showed mature systems always have an owner.</a:t>
            </a:r>
            <a:r>
              <a:rPr sz="1400">
                <a:solidFill>
                  <a:srgbClr val="222A33"/>
                </a:solidFill>
                <a:latin typeface="Calibri"/>
              </a:rPr>
              <a:t>  Ushahidi→deployment owner, HOTOSM→validators, ReliefWeb→OCHA editors, HDX→org data managers.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A7 split accordingly.</a:t>
            </a:r>
            <a:r>
              <a:rPr sz="1400">
                <a:solidFill>
                  <a:srgbClr val="222A33"/>
                </a:solidFill>
                <a:latin typeface="Calibri"/>
              </a:rPr>
              <a:t>  A7a = coordinators publish (now less risky); A7b = beneficiaries use (still untested).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A6b then sharpened the shape.</a:t>
            </a:r>
            <a:r>
              <a:rPr sz="1400">
                <a:solidFill>
                  <a:srgbClr val="222A33"/>
                </a:solidFill>
                <a:latin typeface="Calibri"/>
              </a:rPr>
              <a:t>  Structure survives only when (a) there is an owner/mandate and (b) burden is near-zero and lives in the existing workflow.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Reality still gets the vote.</a:t>
            </a:r>
            <a:r>
              <a:rPr sz="1400">
                <a:solidFill>
                  <a:srgbClr val="222A33"/>
                </a:solidFill>
                <a:latin typeface="Calibri"/>
              </a:rPr>
              <a:t>  This is a working hypothesis, not a conclusion — every pending coordinator conversation is a falsification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THE ASSUMPTION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 · What we are testing (A1–A7, A6a, A6b, A6-trust)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143000" cy="1078992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463040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Coordination is a priority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048256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98A10"/>
                </a:solidFill>
                <a:latin typeface="Calibri"/>
              </a:rPr>
              <a:t>Paused — bounded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371600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71600"/>
            <a:ext cx="1143000" cy="10789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645920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1264" y="1463040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Info/matching is a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2048256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Strengthened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371600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1371600"/>
            <a:ext cx="1143000" cy="10789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5864" y="1645920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1463040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Offline capability materially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048256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Strengthened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69464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569464"/>
            <a:ext cx="1143000" cy="10789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43784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2660904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Verification materially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246120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Untested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2569464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9392" y="2569464"/>
            <a:ext cx="1143000" cy="10789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2843784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1264" y="2660904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Existing tools insufficient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264" y="3246120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Strengthened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55864" y="2569464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55864" y="2569464"/>
            <a:ext cx="1143000" cy="10789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4" y="2843784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A6-trust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7736" y="2660904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Orgs trust designated verifiers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3246120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Untested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767328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767328"/>
            <a:ext cx="1143000" cy="10789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41648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3858768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Communities adopt a new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443984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Untested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9392" y="3767328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9392" y="3767328"/>
            <a:ext cx="1143000" cy="1078992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4041648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A6a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41264" y="3858768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Formal orgs maintain structured info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41264" y="4443984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Early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5864" y="3767328"/>
            <a:ext cx="3657600" cy="1078992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55864" y="3767328"/>
            <a:ext cx="1143000" cy="10789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5864" y="4041648"/>
            <a:ext cx="1143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A6b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7736" y="3858768"/>
            <a:ext cx="22860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C2B39"/>
                </a:solidFill>
                <a:latin typeface="Calibri"/>
              </a:rPr>
              <a:t>Grassroots coordinators maintain structured info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17736" y="4443984"/>
            <a:ext cx="22860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Conditional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EVIDENCE COLLECTED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 · What the evidence shows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Tier-1 public evidence — 9 sources retrieved &amp; URL-verified.</a:t>
            </a:r>
            <a:r>
              <a:rPr sz="1400">
                <a:solidFill>
                  <a:srgbClr val="222A33"/>
                </a:solidFill>
                <a:latin typeface="Calibri"/>
              </a:rPr>
              <a:t>  Incl. ACAPS (ERRs Sudan), White Helmets reports, GTS, CDAC, HOTOSM, MapAction, ReliefWeb, SARC, WFP — converged where independent sources agree.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Tier-2 field — 1 resident interview (Adam, Jul 14).</a:t>
            </a:r>
            <a:r>
              <a:rPr sz="1400">
                <a:solidFill>
                  <a:srgbClr val="222A33"/>
                </a:solidFill>
                <a:latin typeface="Calibri"/>
              </a:rPr>
              <a:t>  Strengthened A2/A3/A5 with first-hand outage failure: lost access to food-distribution info &amp; digital payments.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1 partial reply (Abdelrahman Saleh, Wa7at).</a:t>
            </a:r>
            <a:r>
              <a:rPr sz="1400">
                <a:solidFill>
                  <a:srgbClr val="222A33"/>
                </a:solidFill>
                <a:latin typeface="Calibri"/>
              </a:rPr>
              <a:t>  Named internet + electricity scarcity as major challenges; detailed questionnaire pending.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A6b campaign — 5 evidence items + 4 contradictions logged.</a:t>
            </a:r>
            <a:r>
              <a:rPr sz="1400">
                <a:solidFill>
                  <a:srgbClr val="222A33"/>
                </a:solidFill>
                <a:latin typeface="Calibri"/>
              </a:rPr>
              <a:t>  Population-split now evidence-backed, not guessed.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C2B39"/>
                </a:solidFill>
                <a:latin typeface="Calibri"/>
              </a:rPr>
              <a:t>Convergence status (independent-source agreement):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709160"/>
            <a:ext cx="2148840" cy="3291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A3: Emerging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8336" y="4709160"/>
            <a:ext cx="2148840" cy="329184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A2/A5: Weak (1 interview)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3752" y="4709160"/>
            <a:ext cx="2148840" cy="329184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A6a: Early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9168" y="4709160"/>
            <a:ext cx="2148840" cy="32918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A6b: Conditional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44584" y="4709160"/>
            <a:ext cx="2148840" cy="329184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A1: Bounded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0" y="4709160"/>
            <a:ext cx="2148840" cy="32918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A4/A6-trust/A7: Untested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222A33"/>
                </a:solidFill>
                <a:latin typeface="Calibri"/>
              </a:rPr>
              <a:t>No assumption has been falsified. Pivot Rule NOT triggered. A3 is the only Emerging-Convergence signal so far.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7 · Major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The naive standalone-board model is dead.</a:t>
            </a:r>
            <a:r>
              <a:rPr sz="1450">
                <a:solidFill>
                  <a:srgbClr val="222A33"/>
                </a:solidFill>
                <a:latin typeface="Calibri"/>
              </a:rPr>
              <a:t>  No informal-SUCCESS case exists for a loose coordinator spontaneously maintaining a register.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But Nidaa is not dead either.</a:t>
            </a:r>
            <a:r>
              <a:rPr sz="1450">
                <a:solidFill>
                  <a:srgbClr val="222A33"/>
                </a:solidFill>
                <a:latin typeface="Calibri"/>
              </a:rPr>
              <a:t>  White Helmets prove volunteers DO structure under extreme pressure — when reporting is mandated, trained, and accountable.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The real pattern is a moderator, not a yes/no.</a:t>
            </a:r>
            <a:r>
              <a:rPr sz="1450">
                <a:solidFill>
                  <a:srgbClr val="222A33"/>
                </a:solidFill>
                <a:latin typeface="Calibri"/>
              </a:rPr>
              <a:t>  Structure survives where an OWNER + MANDATE exist and burden is near-zero; it collapses without them.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Informal coordination defaults to chat, not structure.</a:t>
            </a:r>
            <a:r>
              <a:rPr sz="1450">
                <a:solidFill>
                  <a:srgbClr val="222A33"/>
                </a:solidFill>
                <a:latin typeface="Calibri"/>
              </a:rPr>
              <a:t>  ERRs Sudan: the “room” is the group chat; documentation is named as a GAP to be built, not a practice.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Structuring is done BY/THROUGH a facilitating function.</a:t>
            </a:r>
            <a:r>
              <a:rPr sz="1450">
                <a:solidFill>
                  <a:srgbClr val="222A33"/>
                </a:solidFill>
                <a:latin typeface="Calibri"/>
              </a:rPr>
              <a:t>  GTS, CDAC, White Helmets all imply a function owns the information — rarely the crowd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THE FORK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8 · Reality A vs Reality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429768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REALITY A — structure survives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Spreadsheet / register / list maintained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A named focal point or info officer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Status tracking (who-has-what, what's done)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Structured, regular, written updates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Evidence: White Helmets (field + monthly reports under bombardment), GTS, CDAC, A6a orgs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86400" cy="429768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486400" cy="548640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44752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REALITY B — communication survives, structure doesn't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Calls only / WhatsApp only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Verbal coordination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No maintained records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Records started but abandoned (“the doc died after 3 days”)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>
                <a:solidFill>
                  <a:srgbClr val="222A33"/>
                </a:solidFill>
                <a:latin typeface="Calibri"/>
              </a:rPr>
              <a:t>Evidence: ERRs Sudan (chat-native, docs-as-gap)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2B39"/>
                </a:solidFill>
                <a:latin typeface="Calibri"/>
              </a:rPr>
              <a:t>Reality B = Discovery, not failure. It redirects Nidaa from “a separate board” toward “embed inside the existing workflow / be the facilitating function” — a better-shaped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THE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9 · Why A6b changed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222A33"/>
                </a:solidFill>
                <a:latin typeface="Calibri"/>
              </a:rPr>
              <a:t>Before A6b: a guess that informal coordinators “probably won't structure” (Unproven, leaning Weak).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1C2B39"/>
                </a:solidFill>
                <a:latin typeface="Calibri"/>
              </a:rPr>
              <a:t>After A6b: a precise, testable CONDITIONAL — and the “why” is now grounded in real fetched sources, not speculation.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It killed the naive version of A6b.</a:t>
            </a:r>
            <a:r>
              <a:rPr sz="1450">
                <a:solidFill>
                  <a:srgbClr val="222A33"/>
                </a:solidFill>
                <a:latin typeface="Calibri"/>
              </a:rPr>
              <a:t>  No evidence that a standalone coordinator-led board gets maintained by a loose mutual-aid chat.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It replaced it with a sharp conditional.</a:t>
            </a:r>
            <a:r>
              <a:rPr sz="1450">
                <a:solidFill>
                  <a:srgbClr val="222A33"/>
                </a:solidFill>
                <a:latin typeface="Calibri"/>
              </a:rPr>
              <a:t>  “Structure holds IF owner/mandate + near-zero burden + embedded in existing channel.”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It reshaped the product direction.</a:t>
            </a:r>
            <a:r>
              <a:rPr sz="1450">
                <a:solidFill>
                  <a:srgbClr val="222A33"/>
                </a:solidFill>
                <a:latin typeface="Calibri"/>
              </a:rPr>
              <a:t>  Toward “embed in the workflow / be the facilitating function” — i.e. Reality B as a design pivot, now evidence-backed.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It is a genuine falsification result.</a:t>
            </a:r>
            <a:r>
              <a:rPr sz="1450">
                <a:solidFill>
                  <a:srgbClr val="222A33"/>
                </a:solidFill>
                <a:latin typeface="Calibri"/>
              </a:rPr>
              <a:t>  This is exactly what the campaign was for: it invalidated one claim and produced a better, narrower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A6b is now RESOLVED-AS-CONDITIONAL (Medium confidence) — the defining result of the project so far.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10 · Highest-risk assumptions remaining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10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106984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A7 — Communities adopt a new workflow  (UNTESTED, Low confidence)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2E9D8"/>
                </a:solidFill>
                <a:latin typeface="Calibri"/>
              </a:rPr>
              <a:t>Most existential AND least evidenced. The A6b result raises the bar: structure survives only if embedded with near-zero burden — that is an adoption/UX problem, not a capability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A4 — Verification materially matters.</a:t>
            </a:r>
            <a:r>
              <a:rPr sz="1400">
                <a:solidFill>
                  <a:srgbClr val="222A33"/>
                </a:solidFill>
                <a:latin typeface="Calibri"/>
              </a:rPr>
              <a:t>  Untested (3 conceptual public sources, 0 first-hand verification pain).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A6-trust — Orgs trust designated verifiers.</a:t>
            </a:r>
            <a:r>
              <a:rPr sz="1400">
                <a:solidFill>
                  <a:srgbClr val="222A33"/>
                </a:solidFill>
                <a:latin typeface="Calibri"/>
              </a:rPr>
              <a:t>  Untested. Weak early counter-signal: beneficiaries expect info pushed (WhatsApp), not pulled from a board.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A1 — Coordination is a priority problem.</a:t>
            </a:r>
            <a:r>
              <a:rPr sz="1400">
                <a:solidFill>
                  <a:srgbClr val="222A33"/>
                </a:solidFill>
                <a:latin typeface="Calibri"/>
              </a:rPr>
              <a:t>  Paused at a bounded conclusion (binding where capacity+access exist; secondary where access/security dominate) — favourably bounded, but not closed.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>
                <a:solidFill>
                  <a:srgbClr val="159A9A"/>
                </a:solidFill>
                <a:latin typeface="Calibri"/>
              </a:rPr>
              <a:t>▪ </a:t>
            </a:r>
            <a:r>
              <a:rPr sz="1400" b="1">
                <a:solidFill>
                  <a:srgbClr val="222A33"/>
                </a:solidFill>
                <a:latin typeface="Calibri"/>
              </a:rPr>
              <a:t>A6b sub-claims still Low.</a:t>
            </a:r>
            <a:r>
              <a:rPr sz="1400">
                <a:solidFill>
                  <a:srgbClr val="222A33"/>
                </a:solidFill>
                <a:latin typeface="Calibri"/>
              </a:rPr>
              <a:t>  No first-hand informal-SUCCESS or informal-COLLAPSE event yet — needs a real coordinator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11 · Current outreach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2B39"/>
                </a:solidFill>
                <a:latin typeface="Calibri"/>
              </a:rPr>
              <a:t>17 targets approached/engaged · Row-1 (first real coordinator story) is the live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420624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2B39"/>
                </a:solidFill>
                <a:latin typeface="Calibri"/>
              </a:rPr>
              <a:t>Warm / highest-value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Mones (MSF ops)</a:t>
            </a:r>
            <a:r>
              <a:rPr sz="1300">
                <a:solidFill>
                  <a:srgbClr val="222A33"/>
                </a:solidFill>
                <a:latin typeface="Calibri"/>
              </a:rPr>
              <a:t>  Contacted — #1 Row-1 candidate, pending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Abdelrahman Saleh (Wa7at)</a:t>
            </a:r>
            <a:r>
              <a:rPr sz="1300">
                <a:solidFill>
                  <a:srgbClr val="222A33"/>
                </a:solidFill>
                <a:latin typeface="Calibri"/>
              </a:rPr>
              <a:t>  Replied — detailed questionnaire pending (Gaza)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Fatma (health-team referral)</a:t>
            </a:r>
            <a:r>
              <a:rPr sz="1300">
                <a:solidFill>
                  <a:srgbClr val="222A33"/>
                </a:solidFill>
                <a:latin typeface="Calibri"/>
              </a:rPr>
              <a:t>  Contacted — potential referral into Gaza ground coords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Omar / Shaima / local leads</a:t>
            </a:r>
            <a:r>
              <a:rPr sz="1300">
                <a:solidFill>
                  <a:srgbClr val="222A33"/>
                </a:solidFill>
                <a:latin typeface="Calibri"/>
              </a:rPr>
              <a:t>  Queued — informal-coordinator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86400" cy="420624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C2B39"/>
                </a:solidFill>
                <a:latin typeface="Calibri"/>
              </a:rPr>
              <a:t>Org / institutional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OCHA (Husam, Alaa, Georgios)</a:t>
            </a:r>
            <a:r>
              <a:rPr sz="1300">
                <a:solidFill>
                  <a:srgbClr val="222A33"/>
                </a:solidFill>
                <a:latin typeface="Calibri"/>
              </a:rPr>
              <a:t>  Contacted — coordination-insight targets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WCK (Ibrahim), YAP Palestine</a:t>
            </a:r>
            <a:r>
              <a:rPr sz="1300">
                <a:solidFill>
                  <a:srgbClr val="222A33"/>
                </a:solidFill>
                <a:latin typeface="Calibri"/>
              </a:rPr>
              <a:t>  Contacted — 07-16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iMMAP / REACH / HOTOSM</a:t>
            </a:r>
            <a:r>
              <a:rPr sz="1300">
                <a:solidFill>
                  <a:srgbClr val="222A33"/>
                </a:solidFill>
                <a:latin typeface="Calibri"/>
              </a:rPr>
              <a:t>  Verification + structured-info angles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▪ </a:t>
            </a:r>
            <a:r>
              <a:rPr sz="1300" b="1">
                <a:solidFill>
                  <a:srgbClr val="222A33"/>
                </a:solidFill>
                <a:latin typeface="Calibri"/>
              </a:rPr>
              <a:t>White Helmets / ERRs / Sameer</a:t>
            </a:r>
            <a:r>
              <a:rPr sz="1300">
                <a:solidFill>
                  <a:srgbClr val="222A33"/>
                </a:solidFill>
                <a:latin typeface="Calibri"/>
              </a:rPr>
              <a:t>  SUCCESS &amp; FAILURE-case targets (next wave)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Discipline: outreach status is NOT evidence. A reply alone never counts — only a real story routed via the evidence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12 · What would kill Nidaa?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A7 falsified at scale.</a:t>
            </a:r>
            <a:r>
              <a:rPr sz="1450">
                <a:solidFill>
                  <a:srgbClr val="222A33"/>
                </a:solidFill>
                <a:latin typeface="Calibri"/>
              </a:rPr>
              <a:t>  Beneficiaries never open such boards / rely solely on WhatsApp forwards / distrust unknown sources — and coordinators won't adopt the workflow either.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A1 strongly falsified by multiple conversations.</a:t>
            </a:r>
            <a:r>
              <a:rPr sz="1450">
                <a:solidFill>
                  <a:srgbClr val="222A33"/>
                </a:solidFill>
                <a:latin typeface="Calibri"/>
              </a:rPr>
              <a:t>  Orgs rank coordination below fuel/access/security; “coordination is fine, X is the real problem.” → triggers the Pivot Rule.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A6-trust collapses.</a:t>
            </a:r>
            <a:r>
              <a:rPr sz="1450">
                <a:solidFill>
                  <a:srgbClr val="222A33"/>
                </a:solidFill>
                <a:latin typeface="Calibri"/>
              </a:rPr>
              <a:t>  Orgs refuse to post into a shared board citing liability / false-info harm / “we control our own comms.”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The informal-COLLAPSE is total and unmediated.</a:t>
            </a:r>
            <a:r>
              <a:rPr sz="1450">
                <a:solidFill>
                  <a:srgbClr val="222A33"/>
                </a:solidFill>
                <a:latin typeface="Calibri"/>
              </a:rPr>
              <a:t>  Real coordinators try a register and it dies under surge/connectivity loss with no facilitating function available — and no embeddable channel exists.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Adoption burden is not actually near-zero.</a:t>
            </a:r>
            <a:r>
              <a:rPr sz="1450">
                <a:solidFill>
                  <a:srgbClr val="222A33"/>
                </a:solidFill>
                <a:latin typeface="Calibri"/>
              </a:rPr>
              <a:t>  If embedding in the workflow still requires meaningful admin effort, the A6b conditional fails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13 · What would validate Nidaa?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Row-1 lands — a real coordinator story answering all six A6 questions.</a:t>
            </a:r>
            <a:r>
              <a:rPr sz="1450">
                <a:solidFill>
                  <a:srgbClr val="222A33"/>
                </a:solidFill>
                <a:latin typeface="Calibri"/>
              </a:rPr>
              <a:t>  Either a SUCCESS (structured maintenance held) or a COLLAPSE (dropped under load). Either is evidence; the milestone is the story, not a report.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A7 gets a first real signal.</a:t>
            </a:r>
            <a:r>
              <a:rPr sz="1450">
                <a:solidFill>
                  <a:srgbClr val="222A33"/>
                </a:solidFill>
                <a:latin typeface="Calibri"/>
              </a:rPr>
              <a:t>  A coordinator or community adopts the workflow because it solved a concrete problem — not because they liked the idea.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A6-trust earns one named verifier.</a:t>
            </a:r>
            <a:r>
              <a:rPr sz="1450">
                <a:solidFill>
                  <a:srgbClr val="222A33"/>
                </a:solidFill>
                <a:latin typeface="Calibri"/>
              </a:rPr>
              <a:t>  An org with hierarchy names a person/body they'd accept as verifier, or demonstrably welcomes a verifier role.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A4 gets first-hand verification pain.</a:t>
            </a:r>
            <a:r>
              <a:rPr sz="1450">
                <a:solidFill>
                  <a:srgbClr val="222A33"/>
                </a:solidFill>
                <a:latin typeface="Calibri"/>
              </a:rPr>
              <a:t>  A field coordinator describes a real cost from unverified / mis-verified information today.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Convergence, not a single source.</a:t>
            </a:r>
            <a:r>
              <a:rPr sz="1450">
                <a:solidFill>
                  <a:srgbClr val="222A33"/>
                </a:solidFill>
                <a:latin typeface="Calibri"/>
              </a:rPr>
              <a:t>  Three independent sources agreeing beats any one report or interview — that is the bar for “validated.”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14 · Shortest path to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40080" cy="841248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6152" y="1371600"/>
            <a:ext cx="10424160" cy="841248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C2B39"/>
                </a:solidFill>
                <a:latin typeface="Calibri"/>
              </a:rPr>
              <a:t>Land Row-1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01368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Mones / Abdelrahman reply → route via evidence pipeline → A6-FIELD-LOG Row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22576"/>
            <a:ext cx="640080" cy="8412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2374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6152" y="2322576"/>
            <a:ext cx="10424160" cy="841248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95728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C2B39"/>
                </a:solidFill>
                <a:latin typeface="Calibri"/>
              </a:rPr>
              <a:t>Close the two Low A6b sub-claims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52344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One first-hand informal-COLLAPSE (ERRs/Omar) + one informal-SUCCESS (White Helmets local team).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73552"/>
            <a:ext cx="640080" cy="841248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74720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6152" y="3273552"/>
            <a:ext cx="10424160" cy="841248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346704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C2B39"/>
                </a:solidFill>
                <a:latin typeface="Calibri"/>
              </a:rPr>
              <a:t>First A7 + A6-trust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03320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One adoption signal + one named-verifier signal from a real org/coordinator.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24528"/>
            <a:ext cx="640080" cy="8412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25696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6152" y="4224528"/>
            <a:ext cx="10424160" cy="841248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97680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C2B39"/>
                </a:solidFill>
                <a:latin typeface="Calibri"/>
              </a:rPr>
              <a:t>Phase-0 baseline + Phase-1 real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54296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Lock prototype (tests) + HDX real seed — already scoped in PLAN.md.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75504"/>
            <a:ext cx="640080" cy="841248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76672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6152" y="5175504"/>
            <a:ext cx="10424160" cy="841248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48656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C2B39"/>
                </a:solidFill>
                <a:latin typeface="Calibri"/>
              </a:rPr>
              <a:t>Phase-3 auth + gated 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605272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Only trusted actors verify — closes the security gap before any pilot.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9A9A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2412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15 · What happens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Hermes rests until real-world evidence arrives.</a:t>
            </a:r>
            <a:r>
              <a:rPr sz="1450">
                <a:solidFill>
                  <a:srgbClr val="222A33"/>
                </a:solidFill>
                <a:latin typeface="Calibri"/>
              </a:rPr>
              <a:t>  Either Mones replies, or a new coordinator conversation starts. No new research, no outreach expansion, no features while pending replies are unresolved.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When a reply lands — existing pipeline only.</a:t>
            </a:r>
            <a:r>
              <a:rPr sz="1450">
                <a:solidFill>
                  <a:srgbClr val="222A33"/>
                </a:solidFill>
                <a:latin typeface="Calibri"/>
              </a:rPr>
              <a:t>  EVIDENCE-INTAKE-TEMPLATE → A6-FIELD-LOG Row 1 → ASSUMPTION-TRACKER → journal → commit. A reply alone is never evidence.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450" b="1">
                <a:solidFill>
                  <a:srgbClr val="159A9A"/>
                </a:solidFill>
                <a:latin typeface="Calibri"/>
              </a:rPr>
              <a:t>▪ </a:t>
            </a:r>
            <a:r>
              <a:rPr sz="1450" b="1">
                <a:solidFill>
                  <a:srgbClr val="222A33"/>
                </a:solidFill>
                <a:latin typeface="Calibri"/>
              </a:rPr>
              <a:t>Candidate list is deliberately frozen.</a:t>
            </a:r>
            <a:r>
              <a:rPr sz="1450">
                <a:solidFill>
                  <a:srgbClr val="222A33"/>
                </a:solidFill>
                <a:latin typeface="Calibri"/>
              </a:rPr>
              <a:t>  Expand Tier-2/3 sourcing only after current Tier-1 replies resolve. No single-dependency on one person.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572000"/>
            <a:ext cx="11155680" cy="123444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9A9A"/>
                </a:solidFill>
                <a:latin typeface="Calibri"/>
              </a:rPr>
              <a:t>Bottom line:</a:t>
            </a:r>
            <a:r>
              <a:rPr sz="1400" b="0">
                <a:solidFill>
                  <a:srgbClr val="FFFFFF"/>
                </a:solidFill>
                <a:latin typeface="Calibri"/>
              </a:rPr>
              <a:t>  The capability question (can structure survive?) is largely answered — conditionally. The open risk is adoption. The next useful action is processing one real coordinator story, not building more.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Nidaa (نداء) — Founder Briefing v1 · 2026-07-17 · Syria/Gaza offline-first aid 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60-second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F2E9D8"/>
                </a:solidFill>
                <a:latin typeface="Calibri"/>
              </a:rPr>
              <a:t>Nidaa is an offline-first, Arabic-RTL aid-coordination board for Syria and Gaza — built so it still works when the internet and power don't. </a:t>
            </a:r>
            <a:r>
              <a:rPr sz="1600" b="0">
                <a:solidFill>
                  <a:srgbClr val="F2E9D8"/>
                </a:solidFill>
                <a:latin typeface="Calibri"/>
              </a:rPr>
              <a:t>Connectivity is the failure mode in both places, and the tools people rely on (WhatsApp, Telegram) go dark exactly during the outages when aid info matters most. </a:t>
            </a:r>
            <a:r>
              <a:rPr sz="1600" b="0">
                <a:solidFill>
                  <a:srgbClr val="F2E9D8"/>
                </a:solidFill>
                <a:latin typeface="Calibri"/>
              </a:rPr>
              <a:t>Nidaa saves posts on the device, syncs when a connection appears, and is verifiable by trusted local organizations. </a:t>
            </a:r>
            <a:r>
              <a:rPr sz="1600" b="1">
                <a:solidFill>
                  <a:srgbClr val="FFFFFF"/>
                </a:solidFill>
                <a:latin typeface="Calibri"/>
              </a:rPr>
              <a:t>We've moved from “would this work?” to a sharper question — and the evidence says structure survives only when it's near-zero-burden and owned by someone on the ground. That's the product we're building.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5-minute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Start with the constraint: in Syria ~64% are offline; in Gaza, internet and electricity are scarce. Aid information fragments precisely when it's needed. </a:t>
            </a:r>
            <a:r>
              <a:rPr sz="1500" b="0">
                <a:solidFill>
                  <a:srgbClr val="F2E9D8"/>
                </a:solidFill>
                <a:latin typeface="Calibri"/>
              </a:rPr>
              <a:t>Existing tools assume a connection that isn't there.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What Nidaa is: an offline-first board — the phone is the source of truth, posts queue locally and sync on reconnect, and trusted orgs mark entries verified. Arabic-default, full RTL, Gaza-first.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What we learned: we started assuming a standalone coordinator-led board. The evidence (ACAPS on ERRs, White Helmets reports, GTS, CDAC) shows a cleaner truth — structure is maintained only where there's an owner and near-zero burden. </a:t>
            </a:r>
            <a:r>
              <a:rPr sz="1500" b="1">
                <a:solidFill>
                  <a:srgbClr val="FFFFFF"/>
                </a:solidFill>
                <a:latin typeface="Calibri"/>
              </a:rPr>
              <a:t>That's Reality B: communication survives, structure doesn't — unless you embed in the workflow and become the facilitating function.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Where we are: A6b is resolved-as-conditional; A2/A3/A5 strengthened; A7 (adoption) is the real remaining risk. </a:t>
            </a:r>
            <a:r>
              <a:rPr sz="1500" b="1">
                <a:solidFill>
                  <a:srgbClr val="FFFFFF"/>
                </a:solidFill>
                <a:latin typeface="Calibri"/>
              </a:rPr>
              <a:t>Next: one real coordinator story (Row-1), then close the adoption and trust questions before any pilot.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Judge / competition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Category: offline-first humanitarian coordination tooling. </a:t>
            </a:r>
            <a:r>
              <a:rPr sz="1500" b="0">
                <a:solidFill>
                  <a:srgbClr val="F2E9D8"/>
                </a:solidFill>
                <a:latin typeface="Calibri"/>
              </a:rPr>
              <a:t>We scanned the landscape (Jul 2026): crisis-mesh messengers exist, preparedness tools exist, but a needs-board that is genuinely offline-first AND Arabic-RTL is absent — globally, not just regionally.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Our edge is the combination, not any single part: offline-first storage + verifiable entries + Arabic-RTL + region-tagging + (planned) device-to-device mesh sync and decentralized trust.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The defensible claim: first-in-combination. Execution and field-validation are the real risks — which is exactly why the current work is evidence, not features.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Traction to date: working prototype (build green, API + Arabic round-trip verified), real-seed-data importer scoped, and a live evidence campaign that has already changed the product shape.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59A9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Humanitarian practitioner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If you coordinate aid on the ground: Nidaa is a board your team can post to and read even when the network is down, that trusted orgs verify, and that doesn't add admin burden to your day.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We're not asking you to adopt a new system — we're asking: when things got hard, who actually kept the information, and what happened to it? </a:t>
            </a:r>
            <a:r>
              <a:rPr sz="1500" b="0">
                <a:solidFill>
                  <a:srgbClr val="F2E9D8"/>
                </a:solidFill>
                <a:latin typeface="Calibri"/>
              </a:rPr>
              <a:t>That's the six-question story we need.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F2E9D8"/>
                </a:solidFill>
                <a:latin typeface="Calibri"/>
              </a:rPr>
              <a:t>Early signal says: where there's a named owner and the capture is trivial, structure holds (White Helmets log field + monthly reports under bombardment). Where it's a loose chat with no owner, documentation is the gap everyone names but nobody fills.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So the design bet is: sit inside the channel you already use, make posting near-invisible, and let a facilitating function own verification — rather than hoping a separate board gets maintained.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1">
                <a:solidFill>
                  <a:srgbClr val="F2E9D8"/>
                </a:solidFill>
                <a:latin typeface="Calibri"/>
              </a:rPr>
              <a:t>If you've lived the collapse of a spreadsheet under surge, or the survival of one under fire — that's the evidence that shapes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